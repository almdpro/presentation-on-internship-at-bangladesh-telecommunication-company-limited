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4" r:id="rId1"/>
    <p:sldMasterId id="2147483693" r:id="rId2"/>
  </p:sldMasterIdLst>
  <p:notesMasterIdLst>
    <p:notesMasterId r:id="rId34"/>
  </p:notesMasterIdLst>
  <p:sldIdLst>
    <p:sldId id="256" r:id="rId3"/>
    <p:sldId id="279" r:id="rId4"/>
    <p:sldId id="280" r:id="rId5"/>
    <p:sldId id="281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4" r:id="rId23"/>
    <p:sldId id="282" r:id="rId24"/>
    <p:sldId id="283" r:id="rId25"/>
    <p:sldId id="284" r:id="rId26"/>
    <p:sldId id="285" r:id="rId27"/>
    <p:sldId id="286" r:id="rId28"/>
    <p:sldId id="273" r:id="rId29"/>
    <p:sldId id="275" r:id="rId30"/>
    <p:sldId id="276" r:id="rId31"/>
    <p:sldId id="277" r:id="rId32"/>
    <p:sldId id="278" r:id="rId33"/>
  </p:sldIdLst>
  <p:sldSz cx="9144000" cy="6858000" type="screen4x3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1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7C52D-14B9-4382-96D0-227108EB9D3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24013" y="1257300"/>
            <a:ext cx="4524375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E4AA4A-F113-4172-BC3D-8A1261243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554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pPr indent="0" algn="ctr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911D6C50-50C8-4A2E-A751-D3819392363F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4119155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pPr indent="0" algn="ctr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911D6C50-50C8-4A2E-A751-D3819392363F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57590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911D6C50-50C8-4A2E-A751-D3819392363F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00237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911D6C50-50C8-4A2E-A751-D3819392363F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62643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911D6C50-50C8-4A2E-A751-D3819392363F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78763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&lt;date/time&gt;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&lt;footer&gt;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19247-EC96-46A1-A85D-399699D3D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760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911D6C50-50C8-4A2E-A751-D3819392363F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03534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911D6C50-50C8-4A2E-A751-D3819392363F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17404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911D6C50-50C8-4A2E-A751-D3819392363F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81770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911D6C50-50C8-4A2E-A751-D3819392363F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62150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911D6C50-50C8-4A2E-A751-D3819392363F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238007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911D6C50-50C8-4A2E-A751-D3819392363F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27624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911D6C50-50C8-4A2E-A751-D3819392363F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147174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911D6C50-50C8-4A2E-A751-D3819392363F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053071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911D6C50-50C8-4A2E-A751-D3819392363F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207393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911D6C50-50C8-4A2E-A751-D3819392363F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160651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911D6C50-50C8-4A2E-A751-D3819392363F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325072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E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&lt;footer&gt;</a:t>
            </a:r>
            <a:endParaRPr/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C38A14D-230F-44D5-89AB-B913CED4C9ED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&lt;date/time&gt;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56690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EFFA7D89-AFB7-4B39-B390-C5BE1046D647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490144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EFFA7D89-AFB7-4B39-B390-C5BE1046D647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23917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EFFA7D89-AFB7-4B39-B390-C5BE1046D647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365452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EFFA7D89-AFB7-4B39-B390-C5BE1046D647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885953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EFFA7D89-AFB7-4B39-B390-C5BE1046D647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487324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&lt;date/time&gt;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&lt;footer&gt;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EB1C1-7B29-46EA-A946-170420195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2659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EFFA7D89-AFB7-4B39-B390-C5BE1046D647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036908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EFFA7D89-AFB7-4B39-B390-C5BE1046D647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581999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EFFA7D89-AFB7-4B39-B390-C5BE1046D647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238717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EFFA7D89-AFB7-4B39-B390-C5BE1046D647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379081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EFFA7D89-AFB7-4B39-B390-C5BE1046D647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782613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EFFA7D89-AFB7-4B39-B390-C5BE1046D647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8441455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EFFA7D89-AFB7-4B39-B390-C5BE1046D647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085514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EFFA7D89-AFB7-4B39-B390-C5BE1046D647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221964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EFFA7D89-AFB7-4B39-B390-C5BE1046D647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212134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EFFA7D89-AFB7-4B39-B390-C5BE1046D647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79350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indent="0" algn="ctr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11D6C50-50C8-4A2E-A751-D3819392363F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81241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FFA7D89-AFB7-4B39-B390-C5BE1046D647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62800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881405" y="1077012"/>
            <a:ext cx="8083485" cy="546518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en-IE" sz="2200" b="0" strike="noStrike" spc="-1" dirty="0">
                <a:solidFill>
                  <a:srgbClr val="000000"/>
                </a:solidFill>
                <a:latin typeface="Arial"/>
              </a:rPr>
              <a:t>Course Code: EEE 4116</a:t>
            </a:r>
          </a:p>
          <a:p>
            <a:pPr indent="0" algn="ctr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en-IE" sz="2200" spc="-1" dirty="0">
                <a:solidFill>
                  <a:srgbClr val="000000"/>
                </a:solidFill>
                <a:latin typeface="Arial"/>
              </a:rPr>
              <a:t>Course Title: Industrial Training</a:t>
            </a:r>
          </a:p>
          <a:p>
            <a:pPr indent="0" algn="ctr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endParaRPr lang="en-IE" sz="22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en-IE" sz="2500" b="1" spc="-1" dirty="0">
                <a:solidFill>
                  <a:srgbClr val="000000"/>
                </a:solidFill>
                <a:latin typeface="Arial"/>
              </a:rPr>
              <a:t>Industrial Attachment Overview in BTCL, </a:t>
            </a:r>
            <a:r>
              <a:rPr lang="en-IE" sz="2500" b="1" spc="-1" dirty="0" err="1">
                <a:solidFill>
                  <a:srgbClr val="000000"/>
                </a:solidFill>
                <a:latin typeface="Arial"/>
              </a:rPr>
              <a:t>Rajshahi</a:t>
            </a:r>
            <a:endParaRPr lang="en-IE" sz="2500" b="1" spc="-1" dirty="0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en-IE" sz="2000" b="1" strike="noStrike" spc="-1" dirty="0">
                <a:solidFill>
                  <a:srgbClr val="000000"/>
                </a:solidFill>
                <a:latin typeface="Arial"/>
              </a:rPr>
              <a:t>Company Name: </a:t>
            </a:r>
            <a:r>
              <a:rPr lang="en-IE" sz="2000" b="0" strike="noStrike" spc="-1" dirty="0">
                <a:solidFill>
                  <a:srgbClr val="000000"/>
                </a:solidFill>
                <a:latin typeface="Arial"/>
              </a:rPr>
              <a:t>Bangladesh Telecommunication Company Limited (BTCL)</a:t>
            </a:r>
          </a:p>
          <a:p>
            <a:pPr indent="0" algn="ctr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en-IE" sz="2000" b="1" spc="-1" dirty="0">
                <a:solidFill>
                  <a:srgbClr val="000000"/>
                </a:solidFill>
                <a:latin typeface="Arial"/>
              </a:rPr>
              <a:t>Training Period: </a:t>
            </a:r>
            <a:r>
              <a:rPr lang="en-IE" sz="2000" spc="-1" dirty="0">
                <a:solidFill>
                  <a:srgbClr val="000000"/>
                </a:solidFill>
                <a:latin typeface="Arial"/>
              </a:rPr>
              <a:t>2 Weeks</a:t>
            </a:r>
            <a:endParaRPr lang="en-IE" sz="2200" b="1" u="sng" spc="-1" dirty="0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endParaRPr lang="en-IE" sz="2200" b="1" u="sng" spc="-1" dirty="0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en-IE" sz="2200" b="1" u="sng" spc="-1" dirty="0">
                <a:solidFill>
                  <a:srgbClr val="000000"/>
                </a:solidFill>
                <a:latin typeface="Arial"/>
              </a:rPr>
              <a:t>Presenter:</a:t>
            </a:r>
          </a:p>
          <a:p>
            <a:pPr indent="0" algn="ctr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en-IE" sz="2200" b="0" strike="noStrike" spc="-1" dirty="0">
                <a:solidFill>
                  <a:srgbClr val="000000"/>
                </a:solidFill>
                <a:latin typeface="Arial"/>
              </a:rPr>
              <a:t>Alsadi Md. Promi</a:t>
            </a:r>
          </a:p>
          <a:p>
            <a:pPr indent="0" algn="ctr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en-IE" sz="2200" spc="-1" dirty="0">
                <a:solidFill>
                  <a:srgbClr val="000000"/>
                </a:solidFill>
                <a:latin typeface="Arial"/>
              </a:rPr>
              <a:t>Roll: </a:t>
            </a:r>
            <a:r>
              <a:rPr lang="en-IE" sz="2200" b="1" spc="-1" dirty="0">
                <a:solidFill>
                  <a:srgbClr val="000000"/>
                </a:solidFill>
                <a:latin typeface="Arial"/>
              </a:rPr>
              <a:t>2101098</a:t>
            </a:r>
          </a:p>
          <a:p>
            <a:pPr indent="0" algn="ctr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en-IE" sz="2200" b="0" strike="noStrike" spc="-1" dirty="0">
                <a:solidFill>
                  <a:srgbClr val="000000"/>
                </a:solidFill>
                <a:latin typeface="Arial"/>
              </a:rPr>
              <a:t>Dept.: EEE</a:t>
            </a:r>
          </a:p>
          <a:p>
            <a:pPr indent="0" algn="ctr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en-IE" sz="2200" spc="-1" dirty="0">
                <a:solidFill>
                  <a:srgbClr val="000000"/>
                </a:solidFill>
                <a:latin typeface="Arial"/>
              </a:rPr>
              <a:t>RUET, Rajshahi-6204, Bangladesh</a:t>
            </a:r>
          </a:p>
          <a:p>
            <a:pPr indent="0" algn="ctr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en-IE" sz="1800" b="0" strike="noStrike" spc="-1" dirty="0">
                <a:solidFill>
                  <a:srgbClr val="000000"/>
                </a:solidFill>
                <a:latin typeface="Arial"/>
              </a:rPr>
              <a:t>Contact: 2101098@student.ruet.ac.bd</a:t>
            </a:r>
          </a:p>
          <a:p>
            <a:pPr indent="0" algn="ctr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endParaRPr lang="en-IE" sz="2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296764" y="0"/>
            <a:ext cx="8550111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1500" b="0" strike="noStrike" spc="-1" dirty="0">
                <a:solidFill>
                  <a:srgbClr val="000000"/>
                </a:solidFill>
                <a:latin typeface="Calibri"/>
              </a:rPr>
              <a:t>“Heaven’s Light Is Our Guide”</a:t>
            </a:r>
            <a:br>
              <a:rPr lang="en-US" sz="1500" b="0" strike="noStrike" spc="-1" dirty="0">
                <a:solidFill>
                  <a:srgbClr val="000000"/>
                </a:solidFill>
                <a:latin typeface="Calibri"/>
              </a:rPr>
            </a:br>
            <a:r>
              <a:rPr lang="en-US" sz="2500" b="0" strike="noStrike" spc="-1" dirty="0" err="1">
                <a:solidFill>
                  <a:srgbClr val="000000"/>
                </a:solidFill>
                <a:latin typeface="Calibri"/>
              </a:rPr>
              <a:t>Rajshahi</a:t>
            </a:r>
            <a:r>
              <a:rPr lang="en-US" sz="2500" b="0" strike="noStrike" spc="-1" dirty="0">
                <a:solidFill>
                  <a:srgbClr val="000000"/>
                </a:solidFill>
                <a:latin typeface="Calibri"/>
              </a:rPr>
              <a:t> University of Engineering &amp; Technology</a:t>
            </a:r>
            <a:br>
              <a:rPr lang="en-US" sz="3600" b="0" strike="noStrike" spc="-1" dirty="0">
                <a:solidFill>
                  <a:srgbClr val="000000"/>
                </a:solidFill>
                <a:latin typeface="Calibri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Department of Electrical &amp; Electronic Engineering </a:t>
            </a:r>
            <a:br>
              <a:rPr lang="en-US" sz="3600" b="0" strike="noStrike" spc="-1" dirty="0">
                <a:solidFill>
                  <a:srgbClr val="000000"/>
                </a:solidFill>
                <a:latin typeface="Calibri"/>
              </a:rPr>
            </a:br>
            <a:endParaRPr lang="en-US" sz="36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AutoShape 2" descr="Rajshahi University of Engineering &amp; Technology (RUET) Logo Vector">
            <a:extLst>
              <a:ext uri="{FF2B5EF4-FFF2-40B4-BE49-F238E27FC236}">
                <a16:creationId xmlns:a16="http://schemas.microsoft.com/office/drawing/2014/main" id="{6670F425-BB0D-D980-9179-773482216E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599" y="3276599"/>
            <a:ext cx="1238839" cy="1238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09124E76-1E2E-F86D-F9F2-6C56801877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19CE01-6D63-08F4-4B7C-7D7D1E15E2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3992" y="124512"/>
            <a:ext cx="1415372" cy="1650579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965CFF2-DBD1-5CBC-A901-7446C90B4085}"/>
              </a:ext>
            </a:extLst>
          </p:cNvPr>
          <p:cNvSpPr>
            <a:spLocks noGrp="1"/>
          </p:cNvSpPr>
          <p:nvPr>
            <p:ph type="sldNum" idx="3"/>
          </p:nvPr>
        </p:nvSpPr>
        <p:spPr>
          <a:xfrm>
            <a:off x="7890235" y="5901179"/>
            <a:ext cx="1074655" cy="956821"/>
          </a:xfrm>
        </p:spPr>
        <p:txBody>
          <a:bodyPr/>
          <a:lstStyle/>
          <a:p>
            <a:fld id="{6C38A14D-230F-44D5-89AB-B913CED4C9ED}" type="slidenum">
              <a:rPr lang="en-US" sz="25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636E20-0CB9-683B-382B-38B8EEC78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54" y="6316382"/>
            <a:ext cx="7620660" cy="5486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0065-4BD1-B80D-95C0-D6E0CFA7C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74FE5-53C0-21C3-B719-D5C6C89F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500" dirty="0"/>
              <a:t>Corporate Introduction</a:t>
            </a:r>
          </a:p>
          <a:p>
            <a:r>
              <a:rPr lang="en-US" sz="2500" dirty="0"/>
              <a:t>Network Evolution (NGN &amp; IMS)</a:t>
            </a:r>
          </a:p>
          <a:p>
            <a:r>
              <a:rPr lang="en-US" sz="2500" dirty="0"/>
              <a:t>GPON Technical Framework</a:t>
            </a:r>
          </a:p>
          <a:p>
            <a:r>
              <a:rPr lang="en-US" sz="2500" dirty="0"/>
              <a:t>Field Operations &amp; Maintenance</a:t>
            </a:r>
          </a:p>
          <a:p>
            <a:r>
              <a:rPr lang="en-US" sz="2500" dirty="0"/>
              <a:t>Training Outcomes</a:t>
            </a:r>
          </a:p>
          <a:p>
            <a:r>
              <a:rPr lang="en-US" sz="2500" dirty="0"/>
              <a:t>Future Prospects &amp; Challenges</a:t>
            </a:r>
          </a:p>
          <a:p>
            <a:r>
              <a:rPr lang="en-US" sz="2500" dirty="0"/>
              <a:t>Conclusion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A51FF1-BB82-A4E4-7F12-544BA80A74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8628" y="0"/>
            <a:ext cx="1415372" cy="16505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E7142F-185A-4EBD-5586-CE3653E75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54" y="6316382"/>
            <a:ext cx="7620660" cy="548688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52354-66D8-2F98-FD9E-BE251C565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4623" y="6408163"/>
            <a:ext cx="757402" cy="365125"/>
          </a:xfrm>
        </p:spPr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EFFA7D89-AFB7-4B39-B390-C5BE1046D647}" type="slidenum">
              <a:rPr lang="en-US" sz="2500" b="1" strike="noStrike" spc="-1" smtClean="0">
                <a:solidFill>
                  <a:srgbClr val="8B8B8B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fld>
            <a:endParaRPr lang="en-IE" sz="2500" b="1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392589-A664-0DE6-1371-325D5C93678E}"/>
              </a:ext>
            </a:extLst>
          </p:cNvPr>
          <p:cNvSpPr txBox="1"/>
          <p:nvPr/>
        </p:nvSpPr>
        <p:spPr>
          <a:xfrm>
            <a:off x="2283643" y="3246690"/>
            <a:ext cx="4586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6C38A14D-230F-44D5-89AB-B913CED4C9ED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1252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E63A6-1A7F-3027-388A-14810D80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000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1A378-7F5D-0D67-4055-C11D326F8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89" y="1491287"/>
            <a:ext cx="7035539" cy="5116902"/>
          </a:xfrm>
        </p:spPr>
        <p:txBody>
          <a:bodyPr>
            <a:noAutofit/>
          </a:bodyPr>
          <a:lstStyle/>
          <a:p>
            <a:r>
              <a:rPr lang="en-US" sz="2000" dirty="0"/>
              <a:t>Telecommunication allows the exchange of information over long distances.</a:t>
            </a:r>
          </a:p>
          <a:p>
            <a:r>
              <a:rPr lang="en-US" sz="2000" dirty="0"/>
              <a:t>In Bangladesh, it is managed by BTCL (Bangladesh Telecommunication Company Limited).</a:t>
            </a:r>
          </a:p>
          <a:p>
            <a:r>
              <a:rPr lang="en-US" sz="2000" dirty="0"/>
              <a:t>BTCL is the largest telecommunication company in the country.</a:t>
            </a:r>
          </a:p>
          <a:p>
            <a:r>
              <a:rPr lang="en-US" sz="2000" dirty="0"/>
              <a:t>It provides high-speed internet services.</a:t>
            </a:r>
          </a:p>
          <a:p>
            <a:r>
              <a:rPr lang="en-US" sz="2000" dirty="0"/>
              <a:t>It offers landline telephone services. It supports both domestic and international calls. It operates a 24-hour customer care center. It manages the red telephone exchange for VIPs.</a:t>
            </a:r>
          </a:p>
          <a:p>
            <a:r>
              <a:rPr lang="en-US" sz="2000" dirty="0"/>
              <a:t>BTCL is essential for the advancement of Bangladesh’s telecommunication system.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1885BA-75BB-B951-ADC3-25669D098B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8628" y="0"/>
            <a:ext cx="1415372" cy="16505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AD897C-4AA4-7FDB-14CE-9CA76C8E4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54" y="6316382"/>
            <a:ext cx="7620660" cy="54868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23B2A-CB64-3E5C-8A8E-021A4981A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1193" y="6215759"/>
            <a:ext cx="1152652" cy="642241"/>
          </a:xfrm>
        </p:spPr>
        <p:txBody>
          <a:bodyPr/>
          <a:lstStyle/>
          <a:p>
            <a:pPr indent="0" algn="r">
              <a:lnSpc>
                <a:spcPct val="100000"/>
              </a:lnSpc>
              <a:buNone/>
            </a:pPr>
            <a:r>
              <a:rPr lang="en-IE" sz="25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IE" sz="25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7031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FB534-C91B-DABB-005E-373289D19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000" b="1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933C2-344F-D885-0D5D-ADB886612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770" y="1519566"/>
            <a:ext cx="6894137" cy="4994355"/>
          </a:xfrm>
        </p:spPr>
        <p:txBody>
          <a:bodyPr>
            <a:noAutofit/>
          </a:bodyPr>
          <a:lstStyle/>
          <a:p>
            <a:r>
              <a:rPr lang="en-US" sz="1900" dirty="0"/>
              <a:t>The motivations of this industrial training are as follows:</a:t>
            </a:r>
          </a:p>
          <a:p>
            <a:r>
              <a:rPr lang="en-US" sz="1900" dirty="0"/>
              <a:t>Premier state-owned telecom operator shaping Bangladesh’s digital future.</a:t>
            </a:r>
          </a:p>
          <a:p>
            <a:r>
              <a:rPr lang="en-US" sz="1900" dirty="0"/>
              <a:t>Direct exposure to nationwide telecom backbone and core infrastructure.</a:t>
            </a:r>
          </a:p>
          <a:p>
            <a:r>
              <a:rPr lang="en-US" sz="1900" dirty="0"/>
              <a:t>Hands-on learning with cutting-edge technologies (Fiber, Broadband, Switching).</a:t>
            </a:r>
          </a:p>
          <a:p>
            <a:r>
              <a:rPr lang="en-US" sz="1900" dirty="0"/>
              <a:t>Platform to transform academic knowledge into industry expertise.</a:t>
            </a:r>
          </a:p>
          <a:p>
            <a:r>
              <a:rPr lang="en-US" sz="1900" dirty="0"/>
              <a:t>Mentorship from experienced professionals and real-time industry practices.</a:t>
            </a:r>
          </a:p>
          <a:p>
            <a:r>
              <a:rPr lang="en-US" sz="1900" dirty="0"/>
              <a:t>Strategic step toward building a strong career in telecommunication.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1333EC-13C8-C3F8-7661-245264D661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8628" y="0"/>
            <a:ext cx="1415372" cy="16505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691069-C7CF-136B-FAD9-F7C6793A3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54" y="6316382"/>
            <a:ext cx="7620660" cy="54868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0C896-F72E-8658-C48B-130BBE5B2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39026" y="6447395"/>
            <a:ext cx="708130" cy="365125"/>
          </a:xfrm>
        </p:spPr>
        <p:txBody>
          <a:bodyPr/>
          <a:lstStyle/>
          <a:p>
            <a:pPr indent="0" algn="r">
              <a:lnSpc>
                <a:spcPct val="100000"/>
              </a:lnSpc>
              <a:buNone/>
            </a:pPr>
            <a:r>
              <a:rPr lang="en-IE" sz="2500" b="1" strike="noStrike" spc="-1" dirty="0">
                <a:solidFill>
                  <a:srgbClr val="000000"/>
                </a:solidFill>
                <a:latin typeface="Times New Roman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83547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 idx="4294967295"/>
          </p:nvPr>
        </p:nvSpPr>
        <p:spPr>
          <a:xfrm>
            <a:off x="245097" y="274638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3200" b="1" strike="noStrike" spc="-1" dirty="0">
                <a:solidFill>
                  <a:srgbClr val="000000"/>
                </a:solidFill>
                <a:latin typeface="Times New Roman"/>
              </a:rPr>
              <a:t>History and Evolution of BTCL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8348CD-178C-D0D2-D00E-22A3307A29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97" y="544398"/>
            <a:ext cx="8653806" cy="57692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42DFF4-A6E3-DF69-89C6-A9452FDBAE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8628" y="0"/>
            <a:ext cx="1415372" cy="16505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CA6A44-043C-E284-C899-D9AF421384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54" y="6316382"/>
            <a:ext cx="7620660" cy="54868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66DDD-C2F4-8A77-CCA2-AC3FADB6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62001" y="6104464"/>
            <a:ext cx="1536902" cy="957795"/>
          </a:xfrm>
        </p:spPr>
        <p:txBody>
          <a:bodyPr/>
          <a:lstStyle/>
          <a:p>
            <a:pPr indent="0" algn="r">
              <a:lnSpc>
                <a:spcPct val="100000"/>
              </a:lnSpc>
              <a:buNone/>
            </a:pPr>
            <a:r>
              <a:rPr lang="en-IE" sz="2500" b="1" strike="noStrike" spc="-1" dirty="0">
                <a:solidFill>
                  <a:srgbClr val="000000"/>
                </a:solidFill>
                <a:latin typeface="Times New Roman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3200" b="1" strike="noStrike" spc="-1" dirty="0">
                <a:solidFill>
                  <a:srgbClr val="000000"/>
                </a:solidFill>
                <a:latin typeface="Times New Roman"/>
              </a:rPr>
              <a:t>Current Services of BTCL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AutoShape 2" descr="BTCL current service offerings infographic">
            <a:extLst>
              <a:ext uri="{FF2B5EF4-FFF2-40B4-BE49-F238E27FC236}">
                <a16:creationId xmlns:a16="http://schemas.microsoft.com/office/drawing/2014/main" id="{3C173FC2-1231-09F1-D64D-26ED925523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1773810" cy="1773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790E0A-A88D-ADA2-FB03-95CB6C0119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21" y="274638"/>
            <a:ext cx="8785781" cy="58571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A72C01-C9B7-EC43-6B90-B6CF5D585F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8628" y="0"/>
            <a:ext cx="1415372" cy="16505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8008B9-BDA3-14B1-8098-043A9767AD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54" y="6316382"/>
            <a:ext cx="7620660" cy="548688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BBAD04-08DB-C617-A044-F609F67CD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88058" y="5263489"/>
            <a:ext cx="1169256" cy="1142999"/>
          </a:xfrm>
        </p:spPr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EFFA7D89-AFB7-4B39-B390-C5BE1046D647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6</a:t>
            </a:fld>
            <a:endParaRPr lang="en-IE" sz="12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B4F298-35C6-D68B-C992-4B30E8A02B74}"/>
              </a:ext>
            </a:extLst>
          </p:cNvPr>
          <p:cNvSpPr txBox="1"/>
          <p:nvPr/>
        </p:nvSpPr>
        <p:spPr>
          <a:xfrm>
            <a:off x="8535970" y="6316382"/>
            <a:ext cx="72586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3200" b="1" strike="noStrike" spc="-1" dirty="0">
                <a:solidFill>
                  <a:srgbClr val="000000"/>
                </a:solidFill>
                <a:latin typeface="Times New Roman"/>
              </a:rPr>
              <a:t>Evolution of Telecommunications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7D6D30-FEA5-E146-B448-2BC294CB3C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1580"/>
            <a:ext cx="9144000" cy="6096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8382F2A-E686-DD93-40A7-F57B7DC7F7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558" y="0"/>
            <a:ext cx="1301441" cy="151771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0FDF31-5A1B-D811-79EE-2A73421F9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EFFA7D89-AFB7-4B39-B390-C5BE1046D647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7</a:t>
            </a:fld>
            <a:endParaRPr lang="en-IE" sz="12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F4E192-0412-97B9-D6F2-E8EE9A84B68A}"/>
              </a:ext>
            </a:extLst>
          </p:cNvPr>
          <p:cNvSpPr txBox="1"/>
          <p:nvPr/>
        </p:nvSpPr>
        <p:spPr>
          <a:xfrm>
            <a:off x="8535970" y="6316382"/>
            <a:ext cx="72586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CA1E3A-E363-A52C-4264-95BF4EED05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54" y="6316382"/>
            <a:ext cx="7620660" cy="5486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728F38-0129-B898-A126-0732B28FBF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7901"/>
            <a:ext cx="9144000" cy="6096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9FCA49-3644-3961-064F-58F1127E57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478" y="1"/>
            <a:ext cx="1027522" cy="11982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94498F-32BC-1860-63B9-F46A33E0EF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54" y="6316382"/>
            <a:ext cx="7620660" cy="548688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762943-E5AC-4317-D8E1-2921B4E79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EFFA7D89-AFB7-4B39-B390-C5BE1046D647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8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92F0DE-7B2F-F3C2-3B59-B4B8892AD05E}"/>
              </a:ext>
            </a:extLst>
          </p:cNvPr>
          <p:cNvSpPr txBox="1"/>
          <p:nvPr/>
        </p:nvSpPr>
        <p:spPr>
          <a:xfrm>
            <a:off x="8535970" y="6316382"/>
            <a:ext cx="72586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3200" b="1" strike="noStrike" spc="-1" dirty="0">
                <a:solidFill>
                  <a:srgbClr val="000000"/>
                </a:solidFill>
                <a:latin typeface="Times New Roman"/>
              </a:rPr>
              <a:t>Layered Architecture of NGN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7BB7DE-1B49-7FFA-6DA1-3942399537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4638"/>
            <a:ext cx="8993171" cy="599544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8DA18A4-4658-19E2-8C65-530544F03F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8628" y="0"/>
            <a:ext cx="1415372" cy="165057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27016D-0F7A-F25A-E19A-5E5BEA750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EFFA7D89-AFB7-4B39-B390-C5BE1046D647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9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8F2D8F-B978-8D5C-BAA4-832815D3966A}"/>
              </a:ext>
            </a:extLst>
          </p:cNvPr>
          <p:cNvSpPr txBox="1"/>
          <p:nvPr/>
        </p:nvSpPr>
        <p:spPr>
          <a:xfrm>
            <a:off x="8535970" y="6316382"/>
            <a:ext cx="72586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9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B31628-5794-A6F5-20D4-394B3663F5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54" y="6316382"/>
            <a:ext cx="7620660" cy="5486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 idx="4294967295"/>
          </p:nvPr>
        </p:nvSpPr>
        <p:spPr>
          <a:xfrm>
            <a:off x="-250486" y="253789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3200" b="1" strike="noStrike" spc="-1" dirty="0">
                <a:solidFill>
                  <a:srgbClr val="000000"/>
                </a:solidFill>
                <a:latin typeface="Times New Roman"/>
              </a:rPr>
              <a:t>IP Multimedia Subsystem (IMS) Core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494943-C56A-3353-3EC8-82D9B3D2E8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4670"/>
            <a:ext cx="9144000" cy="508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0FE0F5-498C-0844-21F1-F407761E92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8628" y="0"/>
            <a:ext cx="1415372" cy="16505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918FCA-F4DB-2753-9345-FA189B9516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54" y="6316382"/>
            <a:ext cx="7620660" cy="54868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B6B3E-F1F7-CFF4-D24A-33C34482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EFFA7D89-AFB7-4B39-B390-C5BE1046D647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10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7D5644-931A-D32D-E47C-653F74B853D5}"/>
              </a:ext>
            </a:extLst>
          </p:cNvPr>
          <p:cNvSpPr txBox="1"/>
          <p:nvPr/>
        </p:nvSpPr>
        <p:spPr>
          <a:xfrm>
            <a:off x="8535970" y="6316382"/>
            <a:ext cx="72586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3200" b="1" strike="noStrike" spc="-1" dirty="0">
                <a:solidFill>
                  <a:srgbClr val="000000"/>
                </a:solidFill>
                <a:latin typeface="Times New Roman"/>
              </a:rPr>
              <a:t>Signaling Flow: Intra-AGW Calls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DC50CF-FD45-0779-618E-3F7B3D52F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76" y="674147"/>
            <a:ext cx="9073424" cy="48311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4A42BD7-F63A-4F8D-644E-9DDCF23A3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54" y="6316382"/>
            <a:ext cx="7620660" cy="54868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9BC53-6444-A568-A27E-06283290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EFFA7D89-AFB7-4B39-B390-C5BE1046D647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11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B2B979-EE0B-CD2B-094F-E913FAB88CFF}"/>
              </a:ext>
            </a:extLst>
          </p:cNvPr>
          <p:cNvSpPr txBox="1"/>
          <p:nvPr/>
        </p:nvSpPr>
        <p:spPr>
          <a:xfrm>
            <a:off x="8535970" y="6316382"/>
            <a:ext cx="72586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8516A7-B60D-BECA-16EE-A0BD48E46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6635"/>
            <a:ext cx="9114310" cy="492294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515ADF-28F7-EB06-DF41-95149A6571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8628" y="0"/>
            <a:ext cx="1415372" cy="16505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4A5730-672D-481D-3D73-8071602AF0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54" y="6316382"/>
            <a:ext cx="7620660" cy="54868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01FBC-C8BB-7CA5-F1D7-DA4791AC2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EFFA7D89-AFB7-4B39-B390-C5BE1046D647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12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BC3F48-75F3-1D37-365E-03A2CEEBDA87}"/>
              </a:ext>
            </a:extLst>
          </p:cNvPr>
          <p:cNvSpPr txBox="1"/>
          <p:nvPr/>
        </p:nvSpPr>
        <p:spPr>
          <a:xfrm>
            <a:off x="8535970" y="6316382"/>
            <a:ext cx="72586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712078-B096-5784-AA94-0FC2BC100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9" y="1017061"/>
            <a:ext cx="9114310" cy="48238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CCB0B0-4FC6-2ACA-9E96-918A6A9DA7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1380" y="0"/>
            <a:ext cx="1272619" cy="14841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FF6740-A0A0-3FED-71C7-1EE9201AB5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54" y="6316382"/>
            <a:ext cx="7620660" cy="54868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82C3B-4E47-B033-5C3F-CD8DC936F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EFFA7D89-AFB7-4B39-B390-C5BE1046D647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13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19D8AF-2173-7B84-3677-AD45070037AE}"/>
              </a:ext>
            </a:extLst>
          </p:cNvPr>
          <p:cNvSpPr txBox="1"/>
          <p:nvPr/>
        </p:nvSpPr>
        <p:spPr>
          <a:xfrm>
            <a:off x="8535970" y="6316382"/>
            <a:ext cx="72586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917829-19B1-76F2-8D43-76C7E919A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5741"/>
            <a:ext cx="9144000" cy="48686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1090D8D-10C5-92D5-6354-0BDE085526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8628" y="0"/>
            <a:ext cx="1415372" cy="16505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4C2410-CBB8-0D47-B132-7377BC9695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54" y="6316382"/>
            <a:ext cx="7620660" cy="54868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8D197-A0E8-BFB9-29A1-5843D5598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EFFA7D89-AFB7-4B39-B390-C5BE1046D647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14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2E8D67-4466-4206-84AF-DAB5E7F43472}"/>
              </a:ext>
            </a:extLst>
          </p:cNvPr>
          <p:cNvSpPr txBox="1"/>
          <p:nvPr/>
        </p:nvSpPr>
        <p:spPr>
          <a:xfrm>
            <a:off x="8552468" y="6406488"/>
            <a:ext cx="4586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427A61-6DC7-3977-84B5-F58DCD07C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8" y="1367461"/>
            <a:ext cx="9030483" cy="48772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6F577C-37D2-DFC7-2A3C-D36A2A2FED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8628" y="0"/>
            <a:ext cx="1415372" cy="16505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45CDA3-96F1-4F04-AC26-5BC1180152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54" y="6316382"/>
            <a:ext cx="7620660" cy="54868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87A0C-3ED5-CF5A-EDCA-0D204E9E8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EFFA7D89-AFB7-4B39-B390-C5BE1046D647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15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BC6517-A745-529E-E80F-B6A9703FB8A8}"/>
              </a:ext>
            </a:extLst>
          </p:cNvPr>
          <p:cNvSpPr txBox="1"/>
          <p:nvPr/>
        </p:nvSpPr>
        <p:spPr>
          <a:xfrm>
            <a:off x="8535970" y="6316382"/>
            <a:ext cx="72586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539DC0-9699-7C76-8645-5FBA3BC74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79" y="1093884"/>
            <a:ext cx="9007621" cy="49153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F3E01D-4E7B-E91E-A159-4844808FDB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198" y="1"/>
            <a:ext cx="1055802" cy="12312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E2BCE0-F6C9-ECDF-C955-044362FB48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54" y="6316382"/>
            <a:ext cx="7620660" cy="54868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43D17-8996-082E-9F39-B41725E57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EFFA7D89-AFB7-4B39-B390-C5BE1046D647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16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2EB92B-020A-6661-6ADB-570AA61975D9}"/>
              </a:ext>
            </a:extLst>
          </p:cNvPr>
          <p:cNvSpPr txBox="1"/>
          <p:nvPr/>
        </p:nvSpPr>
        <p:spPr>
          <a:xfrm>
            <a:off x="8535970" y="6316382"/>
            <a:ext cx="72586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32A73A-8BDB-A540-4622-1233E8FB5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38" y="1231257"/>
            <a:ext cx="9045724" cy="50919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0FE621-E971-5F8A-9EDC-535856E0DC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198" y="1"/>
            <a:ext cx="1055802" cy="123125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9DF607-446B-5B74-13CE-6C79E037B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EFFA7D89-AFB7-4B39-B390-C5BE1046D647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17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572DD1-C6CA-0310-D168-C662AB7C1FF5}"/>
              </a:ext>
            </a:extLst>
          </p:cNvPr>
          <p:cNvSpPr txBox="1"/>
          <p:nvPr/>
        </p:nvSpPr>
        <p:spPr>
          <a:xfrm>
            <a:off x="8535970" y="6316382"/>
            <a:ext cx="72586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E57501-6026-0DBD-787F-27288EE33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62" y="1231257"/>
            <a:ext cx="8977138" cy="49381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E74E563-2199-48BA-BF4C-7AE8D9C1CA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198" y="1"/>
            <a:ext cx="1055802" cy="12312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D5AA96-6750-8893-684E-4412980EBC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54" y="6316382"/>
            <a:ext cx="7620660" cy="54868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FE821-66D5-2F99-4CC9-C01385AC6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EFFA7D89-AFB7-4B39-B390-C5BE1046D647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18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B79794-BF81-F8F1-D80D-63515B0722C8}"/>
              </a:ext>
            </a:extLst>
          </p:cNvPr>
          <p:cNvSpPr txBox="1"/>
          <p:nvPr/>
        </p:nvSpPr>
        <p:spPr>
          <a:xfrm>
            <a:off x="8535970" y="6316382"/>
            <a:ext cx="72586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18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D91787-75F1-A2B7-82DC-B3F0F505A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14" y="1412590"/>
            <a:ext cx="9068586" cy="49000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B13DDD5-617F-BDFE-AD66-318C14B774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198" y="1"/>
            <a:ext cx="1055802" cy="123125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338B0B-74FC-F676-571E-8C67FDD82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EFFA7D89-AFB7-4B39-B390-C5BE1046D647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19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255C2D-77F7-EBF3-2A8D-79EBE1EB7850}"/>
              </a:ext>
            </a:extLst>
          </p:cNvPr>
          <p:cNvSpPr txBox="1"/>
          <p:nvPr/>
        </p:nvSpPr>
        <p:spPr>
          <a:xfrm>
            <a:off x="8535970" y="6316382"/>
            <a:ext cx="72586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65D073-4658-6D21-6E8E-9C8D7010B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51" y="1350215"/>
            <a:ext cx="8961897" cy="49305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3387BE-6D1C-5E12-93D8-A78869001E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198" y="1"/>
            <a:ext cx="1055802" cy="12312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52B462-2ADB-6997-E8B9-DCD6EC35B2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54" y="6316382"/>
            <a:ext cx="7620660" cy="548688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103F51-A529-A3A0-2B43-C49C8DC72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EFFA7D89-AFB7-4B39-B390-C5BE1046D647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20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C7375A-5C2A-C9AD-E4FA-FD00D3BCAB47}"/>
              </a:ext>
            </a:extLst>
          </p:cNvPr>
          <p:cNvSpPr txBox="1"/>
          <p:nvPr/>
        </p:nvSpPr>
        <p:spPr>
          <a:xfrm>
            <a:off x="8535970" y="6316382"/>
            <a:ext cx="72586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20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F27853-EA9A-F1E1-B3AD-39E1AAE74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76" y="1391732"/>
            <a:ext cx="9045724" cy="492294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9591C59-39AE-70FE-0108-646114331E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198" y="1"/>
            <a:ext cx="1055802" cy="123125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0E16A3-E755-FAAD-061D-C1A37CF72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EFFA7D89-AFB7-4B39-B390-C5BE1046D647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21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5DE6B7-DE67-969F-AFD3-A2287751E175}"/>
              </a:ext>
            </a:extLst>
          </p:cNvPr>
          <p:cNvSpPr txBox="1"/>
          <p:nvPr/>
        </p:nvSpPr>
        <p:spPr>
          <a:xfrm>
            <a:off x="8535970" y="6316382"/>
            <a:ext cx="72586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5C15E4A-481D-9417-65AD-3C2624D26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8611"/>
            <a:ext cx="9144000" cy="46607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41AA27-4DB7-C5F7-252A-316B6D39A8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198" y="801279"/>
            <a:ext cx="1055802" cy="12312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B55702-1A19-75B1-D504-6F811D6E15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54" y="6316382"/>
            <a:ext cx="7620660" cy="548688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F355B09-4DE6-C2DB-422F-12A9AC719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87157" y="6196669"/>
            <a:ext cx="1282378" cy="788113"/>
          </a:xfrm>
        </p:spPr>
        <p:txBody>
          <a:bodyPr/>
          <a:lstStyle/>
          <a:p>
            <a:pPr indent="0" algn="r">
              <a:lnSpc>
                <a:spcPct val="100000"/>
              </a:lnSpc>
              <a:buNone/>
            </a:pPr>
            <a:r>
              <a:rPr lang="en-US" sz="2500" b="1" strike="noStrike" spc="-1" dirty="0">
                <a:solidFill>
                  <a:schemeClr val="tx1"/>
                </a:solidFill>
                <a:latin typeface="Calibri"/>
              </a:rPr>
              <a:t>22</a:t>
            </a:r>
            <a:endParaRPr lang="en-IE" sz="2500" b="1" strike="noStrike" spc="-1" dirty="0">
              <a:solidFill>
                <a:schemeClr val="tx1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442571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0E0832-7B56-FC40-A426-9B2BB80A7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1257"/>
            <a:ext cx="9144000" cy="48467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1440A7-FF72-462D-B64A-2BA0BFA591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198" y="1"/>
            <a:ext cx="1055802" cy="12312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8DF543-A1B9-C52E-DEDE-119927DE2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54" y="6316382"/>
            <a:ext cx="7620660" cy="548688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B6CB1B3-DD0E-4EFB-7756-A734A0AB3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EFFA7D89-AFB7-4B39-B390-C5BE1046D647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23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45B491-BA1E-0DAB-02FE-EDD4588097C3}"/>
              </a:ext>
            </a:extLst>
          </p:cNvPr>
          <p:cNvSpPr txBox="1"/>
          <p:nvPr/>
        </p:nvSpPr>
        <p:spPr>
          <a:xfrm>
            <a:off x="8535970" y="6316382"/>
            <a:ext cx="72586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2389301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70D6BA-D04F-57C7-76E9-EF27FFE42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1830"/>
            <a:ext cx="9144000" cy="46845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A674C8-6428-9842-813C-2081A55118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198" y="1"/>
            <a:ext cx="1055802" cy="12312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D1EA57-08BD-8213-15A6-1E7C4FA386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54" y="6316382"/>
            <a:ext cx="7620660" cy="548688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6F15FBE-E8E3-69E7-3B1A-AED133C10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EFFA7D89-AFB7-4B39-B390-C5BE1046D647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24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53D670-0FF5-A976-1560-9F7982E340CB}"/>
              </a:ext>
            </a:extLst>
          </p:cNvPr>
          <p:cNvSpPr txBox="1"/>
          <p:nvPr/>
        </p:nvSpPr>
        <p:spPr>
          <a:xfrm>
            <a:off x="8535970" y="6316382"/>
            <a:ext cx="72586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4560845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2F1AD2-A441-FB35-5266-CB8C3E9AC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8921"/>
            <a:ext cx="9144000" cy="52601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52C068-66BB-3E7C-879F-EEFE73FFD66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198" y="1"/>
            <a:ext cx="1055802" cy="12312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18ED3D-9807-780C-46B8-1DD37282B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54" y="6316382"/>
            <a:ext cx="7620660" cy="548688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FD2A3F8-10F7-BF61-C871-F46FB01F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EFFA7D89-AFB7-4B39-B390-C5BE1046D647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25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80E46B-B865-BA39-D9C3-80D1162B263B}"/>
              </a:ext>
            </a:extLst>
          </p:cNvPr>
          <p:cNvSpPr txBox="1"/>
          <p:nvPr/>
        </p:nvSpPr>
        <p:spPr>
          <a:xfrm>
            <a:off x="8535970" y="6316382"/>
            <a:ext cx="72586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5077249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FA8AC02-901C-DD18-AC6B-038A86383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3889"/>
            <a:ext cx="9144000" cy="53072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F008B6D-6A06-61BF-E9D8-43E8D94031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198" y="1"/>
            <a:ext cx="1055802" cy="12312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2C6CDF-206C-62C5-5EB1-416C6959CD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54" y="6316382"/>
            <a:ext cx="7620660" cy="548688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F0BFB31-36A3-712C-80D2-63A2D0626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EFFA7D89-AFB7-4B39-B390-C5BE1046D647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26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D41A5C-8518-B3E1-8AF9-577FEDF0AD6F}"/>
              </a:ext>
            </a:extLst>
          </p:cNvPr>
          <p:cNvSpPr txBox="1"/>
          <p:nvPr/>
        </p:nvSpPr>
        <p:spPr>
          <a:xfrm>
            <a:off x="8535970" y="6316382"/>
            <a:ext cx="72586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4510533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DC9A54-DF9F-1DC4-058B-CA72C7F17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" y="1231257"/>
            <a:ext cx="9000000" cy="48924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29E5A5A-4872-61A6-6F82-107E004D22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198" y="1"/>
            <a:ext cx="1055802" cy="12312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048FED-AEA0-6AD8-3FD8-4D162FBD0F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54" y="6316382"/>
            <a:ext cx="7620660" cy="54868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DE749-41A2-0184-5C99-687BBB5AA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EFFA7D89-AFB7-4B39-B390-C5BE1046D647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27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88EAA9-CF29-F534-88C3-08EEA1C15700}"/>
              </a:ext>
            </a:extLst>
          </p:cNvPr>
          <p:cNvSpPr txBox="1"/>
          <p:nvPr/>
        </p:nvSpPr>
        <p:spPr>
          <a:xfrm>
            <a:off x="8535970" y="6316382"/>
            <a:ext cx="72586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27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D743C8-1273-A72A-A112-647D4E6FF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2173"/>
            <a:ext cx="9129551" cy="492294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6EE872A-BCAC-7494-526D-9BCD1C29E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54" y="6316382"/>
            <a:ext cx="7620660" cy="54868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8523FE-33C3-73FC-9F49-1233CD994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EFFA7D89-AFB7-4B39-B390-C5BE1046D647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28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2430D4-2D44-98C4-4EE5-845FB6700804}"/>
              </a:ext>
            </a:extLst>
          </p:cNvPr>
          <p:cNvSpPr txBox="1"/>
          <p:nvPr/>
        </p:nvSpPr>
        <p:spPr>
          <a:xfrm>
            <a:off x="8507690" y="6316382"/>
            <a:ext cx="72586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A3716B-958A-3367-616C-45FBD4560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38" y="1161877"/>
            <a:ext cx="9045724" cy="48924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3678FAD-959C-A492-7D44-03CEFDAB6A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198" y="1"/>
            <a:ext cx="1055802" cy="12312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AFC458-06D9-A255-399B-252937E47E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54" y="6316382"/>
            <a:ext cx="7620660" cy="54868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D9F5D-6DB2-CCD5-790B-698358C0E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EFFA7D89-AFB7-4B39-B390-C5BE1046D647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29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D58682-971D-1B11-5EFF-7F7CA9F6E4DA}"/>
              </a:ext>
            </a:extLst>
          </p:cNvPr>
          <p:cNvSpPr txBox="1"/>
          <p:nvPr/>
        </p:nvSpPr>
        <p:spPr>
          <a:xfrm>
            <a:off x="8535970" y="6316382"/>
            <a:ext cx="72586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29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3200" b="1" strike="noStrike" spc="-1" dirty="0">
                <a:solidFill>
                  <a:srgbClr val="000000"/>
                </a:solidFill>
                <a:latin typeface="Times New Roman"/>
              </a:rPr>
              <a:t>Conclusion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8229600" cy="4525963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spcBef>
                <a:spcPts val="641"/>
              </a:spcBef>
              <a:buNone/>
            </a:pPr>
            <a:endParaRPr lang="en-US" sz="2500" b="0" strike="noStrike" spc="-1" dirty="0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spcAft>
                <a:spcPts val="1199"/>
              </a:spcAft>
              <a:buClr>
                <a:srgbClr val="000000"/>
              </a:buClr>
              <a:buFont typeface="Arial"/>
              <a:buChar char="•"/>
            </a:pPr>
            <a:r>
              <a:rPr lang="en-US" sz="2500" b="0" strike="noStrike" spc="-1" dirty="0">
                <a:solidFill>
                  <a:srgbClr val="000000"/>
                </a:solidFill>
                <a:latin typeface="Times New Roman"/>
              </a:rPr>
              <a:t>Thank you for your attention.</a:t>
            </a:r>
            <a:endParaRPr lang="en-US" sz="2500" b="0" strike="noStrike" spc="-1" dirty="0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spcAft>
                <a:spcPts val="1199"/>
              </a:spcAft>
              <a:buClr>
                <a:srgbClr val="000000"/>
              </a:buClr>
              <a:buFont typeface="Arial"/>
              <a:buChar char="•"/>
            </a:pPr>
            <a:r>
              <a:rPr lang="en-US" sz="2500" b="0" strike="noStrike" spc="-1" dirty="0">
                <a:solidFill>
                  <a:srgbClr val="000000"/>
                </a:solidFill>
                <a:latin typeface="Times New Roman"/>
              </a:rPr>
              <a:t>Industrial training at BTCL has been an invaluable learning experience.</a:t>
            </a:r>
            <a:endParaRPr lang="en-US" sz="2500" b="0" strike="noStrike" spc="-1" dirty="0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spcAft>
                <a:spcPts val="1199"/>
              </a:spcAft>
              <a:buClr>
                <a:srgbClr val="000000"/>
              </a:buClr>
              <a:buFont typeface="Arial"/>
              <a:buChar char="•"/>
            </a:pPr>
            <a:r>
              <a:rPr lang="en-US" sz="2500" b="0" strike="noStrike" spc="-1" dirty="0">
                <a:solidFill>
                  <a:srgbClr val="000000"/>
                </a:solidFill>
                <a:latin typeface="Times New Roman"/>
              </a:rPr>
              <a:t>The floor is now open for any questions.</a:t>
            </a:r>
            <a:endParaRPr lang="en-US" sz="2500" b="0" strike="noStrike" spc="-1" dirty="0">
              <a:solidFill>
                <a:srgbClr val="000000"/>
              </a:solidFill>
              <a:latin typeface="Calibri"/>
            </a:endParaRPr>
          </a:p>
          <a:p>
            <a:pPr marL="0" indent="0">
              <a:lnSpc>
                <a:spcPct val="100000"/>
              </a:lnSpc>
              <a:spcBef>
                <a:spcPts val="360"/>
              </a:spcBef>
              <a:spcAft>
                <a:spcPts val="1199"/>
              </a:spcAft>
              <a:buClr>
                <a:srgbClr val="000000"/>
              </a:buClr>
              <a:buNone/>
            </a:pPr>
            <a:endParaRPr lang="en-US" sz="1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285828-79FC-4302-8453-DA5FCE42A3B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198" y="1"/>
            <a:ext cx="1055802" cy="12312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E985D87-8737-D22C-6164-2DEABB773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54" y="6316382"/>
            <a:ext cx="7620660" cy="54868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F9724D-A932-8D7F-1669-1C21621BC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EFFA7D89-AFB7-4B39-B390-C5BE1046D647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30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EC2083-E0A1-224A-BBC0-ED8FA8494AF9}"/>
              </a:ext>
            </a:extLst>
          </p:cNvPr>
          <p:cNvSpPr txBox="1"/>
          <p:nvPr/>
        </p:nvSpPr>
        <p:spPr>
          <a:xfrm>
            <a:off x="8535970" y="6316382"/>
            <a:ext cx="72586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30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/>
      <p:bldP spid="125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3248E-BEC0-695B-D74D-61CBD581B6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8CB488-9468-7EDA-8751-C8BF79C0CF2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198" y="1"/>
            <a:ext cx="1055802" cy="12312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53B6B0-67AA-A2E8-6854-740ECA2E6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54" y="6316382"/>
            <a:ext cx="7620660" cy="54868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70FB0-4E6E-31B5-10A0-BB3F139B1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</a:pPr>
            <a:fld id="{EFFA7D89-AFB7-4B39-B390-C5BE1046D647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31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E7EA6C-1B56-6A28-1F02-54604590FB33}"/>
              </a:ext>
            </a:extLst>
          </p:cNvPr>
          <p:cNvSpPr txBox="1"/>
          <p:nvPr/>
        </p:nvSpPr>
        <p:spPr>
          <a:xfrm>
            <a:off x="8535970" y="6316382"/>
            <a:ext cx="72586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30998506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</TotalTime>
  <Words>375</Words>
  <Application>Microsoft Office PowerPoint</Application>
  <PresentationFormat>On-screen Show (4:3)</PresentationFormat>
  <Paragraphs>106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Arial</vt:lpstr>
      <vt:lpstr>Calibri</vt:lpstr>
      <vt:lpstr>Corbel</vt:lpstr>
      <vt:lpstr>Times New Roman</vt:lpstr>
      <vt:lpstr>Trebuchet MS</vt:lpstr>
      <vt:lpstr>Wingdings 3</vt:lpstr>
      <vt:lpstr>Parallax</vt:lpstr>
      <vt:lpstr>Facet</vt:lpstr>
      <vt:lpstr>“Heaven’s Light Is Our Guide” Rajshahi University of Engineering &amp; Technology Department of Electrical &amp; Electronic Engineering  </vt:lpstr>
      <vt:lpstr>Presentation Outline</vt:lpstr>
      <vt:lpstr>Introduction</vt:lpstr>
      <vt:lpstr>Motivation</vt:lpstr>
      <vt:lpstr>History and Evolution of BTCL</vt:lpstr>
      <vt:lpstr>Current Services of BTCL</vt:lpstr>
      <vt:lpstr>Evolution of Telecommunications</vt:lpstr>
      <vt:lpstr>PowerPoint Presentation</vt:lpstr>
      <vt:lpstr>Layered Architecture of NGN</vt:lpstr>
      <vt:lpstr>IP Multimedia Subsystem (IMS) Core</vt:lpstr>
      <vt:lpstr>Signaling Flow: Intra-AGW Calls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Thank you.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>generated using python-pptx</dc:description>
  <cp:lastModifiedBy>Md. Promi</cp:lastModifiedBy>
  <cp:revision>15</cp:revision>
  <dcterms:created xsi:type="dcterms:W3CDTF">2013-01-27T09:14:16Z</dcterms:created>
  <dcterms:modified xsi:type="dcterms:W3CDTF">2026-04-08T02:09:12Z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